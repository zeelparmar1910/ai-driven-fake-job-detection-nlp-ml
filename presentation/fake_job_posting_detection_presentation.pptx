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400" b="1" i="0">
                <a:solidFill>
                  <a:srgbClr val="182B49"/>
                </a:solidFill>
                <a:latin typeface="Segoe UI"/>
              </a:defRPr>
            </a:pPr>
            <a:r>
              <a:t>AI-Driven Fake Job Posting Detection System</a:t>
            </a:r>
          </a:p>
          <a:p>
            <a:pPr>
              <a:spcAft>
                <a:spcPts val="1200"/>
              </a:spcAft>
              <a:defRPr sz="2000" b="0" i="0">
                <a:solidFill>
                  <a:srgbClr val="0096A7"/>
                </a:solidFill>
                <a:latin typeface="Segoe UI"/>
              </a:defRPr>
            </a:pPr>
            <a:r>
              <a:t>Classifying Fraudulent Job Advertisements using ML &amp;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 i="0">
                <a:solidFill>
                  <a:srgbClr val="787878"/>
                </a:solidFill>
                <a:latin typeface="Segoe UI"/>
              </a:defRPr>
            </a:pPr>
            <a:r>
              <a:t>SUBMITTED BY:</a:t>
            </a:r>
          </a:p>
          <a:p>
            <a:pPr>
              <a:spcAft>
                <a:spcPts val="400"/>
              </a:spcAft>
              <a:defRPr sz="1400" b="1" i="0">
                <a:solidFill>
                  <a:srgbClr val="182B49"/>
                </a:solidFill>
                <a:latin typeface="Segoe UI"/>
              </a:defRPr>
            </a:pPr>
            <a:r>
              <a:t>•  Zeel Dharmendrakumar Parmar (70438497)</a:t>
            </a:r>
          </a:p>
          <a:p>
            <a:pPr>
              <a:spcAft>
                <a:spcPts val="400"/>
              </a:spcAft>
              <a:defRPr sz="1400" b="1" i="0">
                <a:solidFill>
                  <a:srgbClr val="182B49"/>
                </a:solidFill>
                <a:latin typeface="Segoe UI"/>
              </a:defRPr>
            </a:pPr>
            <a:r>
              <a:t>•  Yash Sanjaybhai Patel (38402834)</a:t>
            </a:r>
          </a:p>
          <a:p>
            <a:pPr>
              <a:spcAft>
                <a:spcPts val="400"/>
              </a:spcAft>
              <a:defRPr sz="1400" b="1" i="0">
                <a:solidFill>
                  <a:srgbClr val="182B49"/>
                </a:solidFill>
                <a:latin typeface="Segoe UI"/>
              </a:defRPr>
            </a:pPr>
            <a:r>
              <a:t>•  Bhavani manjunatha (68681898)</a:t>
            </a:r>
          </a:p>
          <a:p>
            <a:pPr>
              <a:spcAft>
                <a:spcPts val="400"/>
              </a:spcAft>
              <a:defRPr sz="1400" b="1" i="0">
                <a:solidFill>
                  <a:srgbClr val="182B49"/>
                </a:solidFill>
                <a:latin typeface="Segoe UI"/>
              </a:defRPr>
            </a:pPr>
            <a:r>
              <a:t>•  Ashik Kirmani (78221471)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400" b="0" i="0">
                <a:solidFill>
                  <a:srgbClr val="282828"/>
                </a:solidFill>
                <a:latin typeface="Segoe UI"/>
              </a:defRPr>
            </a:pPr>
            <a:r>
              <a:t>MSc 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 i="0">
                <a:solidFill>
                  <a:srgbClr val="787878"/>
                </a:solidFill>
                <a:latin typeface="Segoe UI"/>
              </a:defRPr>
            </a:pPr>
            <a:r>
              <a:t>UNIVERSITY:</a:t>
            </a:r>
          </a:p>
          <a:p>
            <a:pPr>
              <a:spcAft>
                <a:spcPts val="200"/>
              </a:spcAft>
              <a:defRPr sz="1600" b="1" i="0">
                <a:solidFill>
                  <a:srgbClr val="182B49"/>
                </a:solidFill>
                <a:latin typeface="Segoe UI"/>
              </a:defRPr>
            </a:pPr>
            <a:r>
              <a:t>University of Europe for Applied Sciences</a:t>
            </a:r>
          </a:p>
          <a:p>
            <a:pPr>
              <a:spcAft>
                <a:spcPts val="1800"/>
              </a:spcAft>
              <a:defRPr sz="1400" b="0" i="0">
                <a:solidFill>
                  <a:srgbClr val="282828"/>
                </a:solidFill>
                <a:latin typeface="Segoe UI"/>
              </a:defRPr>
            </a:pPr>
            <a:r>
              <a:t>Potsdam, Germany</a:t>
            </a:r>
          </a:p>
          <a:p>
            <a:pPr>
              <a:spcAft>
                <a:spcPts val="600"/>
              </a:spcAft>
              <a:defRPr sz="1200" b="1" i="0">
                <a:solidFill>
                  <a:srgbClr val="787878"/>
                </a:solidFill>
                <a:latin typeface="Segoe UI"/>
              </a:defRPr>
            </a:pPr>
            <a:r>
              <a:t>SUBMITTED TO:</a:t>
            </a:r>
          </a:p>
          <a:p>
            <a:pPr>
              <a:spcAft>
                <a:spcPts val="200"/>
              </a:spcAft>
              <a:defRPr sz="1600" b="1" i="0">
                <a:solidFill>
                  <a:srgbClr val="182B49"/>
                </a:solidFill>
                <a:latin typeface="Segoe UI"/>
              </a:defRPr>
            </a:pPr>
            <a:r>
              <a:t>Prof. Raza Ali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0096A7"/>
                </a:solidFill>
                <a:latin typeface="Segoe UI"/>
              </a:defRPr>
            </a:pPr>
            <a:r>
              <a:t>raza.ali@ue-germany.de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2B49"/>
                </a:solidFill>
                <a:latin typeface="Segoe UI"/>
              </a:defRPr>
            </a:pPr>
            <a:r>
              <a:t>Problem Setting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4864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4114800" cy="438912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457200" rIns="365760" rtlCol="0" anchor="ctr"/>
          <a:lstStyle/>
          <a:p>
            <a:pPr algn="ctr">
              <a:spcAft>
                <a:spcPts val="1200"/>
              </a:spcAft>
              <a:defRPr sz="1200" b="1" i="0">
                <a:solidFill>
                  <a:srgbClr val="03A9F4"/>
                </a:solidFill>
                <a:latin typeface="Segoe UI"/>
              </a:defRPr>
            </a:pPr>
            <a:r>
              <a:t>THE THREAT</a:t>
            </a:r>
          </a:p>
          <a:p>
            <a:pPr>
              <a:spcAft>
                <a:spcPts val="1800"/>
              </a:spcAft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Online job boards host millions of listings. Scammers exploit these platforms to post fake jobs for:</a:t>
            </a:r>
          </a:p>
          <a:p>
            <a:pPr>
              <a:spcAft>
                <a:spcPts val="800"/>
              </a:spcAft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•  Identity Theft (personal data)</a:t>
            </a:r>
          </a:p>
          <a:p>
            <a:pPr>
              <a:spcAft>
                <a:spcPts val="800"/>
              </a:spcAft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•  Financial Scams (advance fees)</a:t>
            </a:r>
          </a:p>
          <a:p>
            <a:pPr>
              <a:spcAft>
                <a:spcPts val="800"/>
              </a:spcAft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•  Credential Harvesting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OUR CORE OBJECTIVES</a:t>
            </a:r>
          </a:p>
          <a:p>
            <a:pPr>
              <a:spcAft>
                <a:spcPts val="200"/>
              </a:spcAft>
              <a:defRPr sz="1500" b="1" i="0">
                <a:solidFill>
                  <a:srgbClr val="182B49"/>
                </a:solidFill>
                <a:latin typeface="Segoe UI"/>
              </a:defRPr>
            </a:pPr>
            <a:r>
              <a:t>✔  Binary Classification Task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282828"/>
                </a:solidFill>
                <a:latin typeface="Segoe UI"/>
              </a:defRPr>
            </a:pPr>
            <a:r>
              <a:t>Predict whether a posting is Legitimate (0) or Fraudulent (1).</a:t>
            </a:r>
          </a:p>
          <a:p>
            <a:pPr>
              <a:spcAft>
                <a:spcPts val="200"/>
              </a:spcAft>
              <a:defRPr sz="1500" b="1" i="0">
                <a:solidFill>
                  <a:srgbClr val="182B49"/>
                </a:solidFill>
                <a:latin typeface="Segoe UI"/>
              </a:defRPr>
            </a:pPr>
            <a:r>
              <a:t>✔  Dual-Feature Fusion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282828"/>
                </a:solidFill>
                <a:latin typeface="Segoe UI"/>
              </a:defRPr>
            </a:pPr>
            <a:r>
              <a:t>Analyze both raw text details (NLP) and listing metadata characteristics.</a:t>
            </a:r>
          </a:p>
          <a:p>
            <a:pPr>
              <a:spcAft>
                <a:spcPts val="200"/>
              </a:spcAft>
              <a:defRPr sz="1500" b="1" i="0">
                <a:solidFill>
                  <a:srgbClr val="182B49"/>
                </a:solidFill>
                <a:latin typeface="Segoe UI"/>
              </a:defRPr>
            </a:pPr>
            <a:r>
              <a:t>✔  Explainable Flagging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282828"/>
                </a:solidFill>
                <a:latin typeface="Segoe UI"/>
              </a:defRPr>
            </a:pPr>
            <a:r>
              <a:t>Protect job seekers and reduce manual review costs for recruitment platforms.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2B49"/>
                </a:solidFill>
                <a:latin typeface="Segoe UI"/>
              </a:defRPr>
            </a:pPr>
            <a:r>
              <a:t>Dataset &amp; Class Imbalance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4864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47548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spcAft>
                <a:spcPts val="1400"/>
              </a:spcAft>
              <a:defRPr sz="1300" b="1" i="0">
                <a:solidFill>
                  <a:srgbClr val="0096A7"/>
                </a:solidFill>
                <a:latin typeface="Segoe UI"/>
              </a:defRPr>
            </a:pPr>
            <a:r>
              <a:t>DATASET PROFILE</a:t>
            </a:r>
          </a:p>
          <a:p>
            <a:pPr>
              <a:spcAft>
                <a:spcPts val="200"/>
              </a:spcAft>
              <a:defRPr sz="1100" b="1" i="0">
                <a:solidFill>
                  <a:srgbClr val="787878"/>
                </a:solidFill>
                <a:latin typeface="Segoe UI"/>
              </a:defRPr>
            </a:pPr>
            <a:r>
              <a:t>Source:</a:t>
            </a:r>
          </a:p>
          <a:p>
            <a:pPr>
              <a:spcAft>
                <a:spcPts val="800"/>
              </a:spcAft>
              <a:defRPr sz="1400" b="1" i="0">
                <a:solidFill>
                  <a:srgbClr val="182B49"/>
                </a:solidFill>
                <a:latin typeface="Segoe UI"/>
              </a:defRPr>
            </a:pPr>
            <a:r>
              <a:t>Employment Scam Aegean Dataset (EMSCAD)</a:t>
            </a:r>
          </a:p>
          <a:p>
            <a:pPr>
              <a:spcAft>
                <a:spcPts val="200"/>
              </a:spcAft>
              <a:defRPr sz="1100" b="1" i="0">
                <a:solidFill>
                  <a:srgbClr val="787878"/>
                </a:solidFill>
                <a:latin typeface="Segoe UI"/>
              </a:defRPr>
            </a:pPr>
            <a:r>
              <a:t>Dimensions:</a:t>
            </a:r>
          </a:p>
          <a:p>
            <a:pPr>
              <a:spcAft>
                <a:spcPts val="800"/>
              </a:spcAft>
              <a:defRPr sz="1400" b="1" i="0">
                <a:solidFill>
                  <a:srgbClr val="182B49"/>
                </a:solidFill>
                <a:latin typeface="Segoe UI"/>
              </a:defRPr>
            </a:pPr>
            <a:r>
              <a:t>17,880 total job postings</a:t>
            </a:r>
          </a:p>
          <a:p>
            <a:pPr>
              <a:spcAft>
                <a:spcPts val="200"/>
              </a:spcAft>
              <a:defRPr sz="1100" b="1" i="0">
                <a:solidFill>
                  <a:srgbClr val="787878"/>
                </a:solidFill>
                <a:latin typeface="Segoe UI"/>
              </a:defRPr>
            </a:pPr>
            <a:r>
              <a:t>Text Features:</a:t>
            </a:r>
          </a:p>
          <a:p>
            <a:pPr>
              <a:spcAft>
                <a:spcPts val="800"/>
              </a:spcAft>
              <a:defRPr sz="1400" b="1" i="0">
                <a:solidFill>
                  <a:srgbClr val="182B49"/>
                </a:solidFill>
                <a:latin typeface="Segoe UI"/>
              </a:defRPr>
            </a:pPr>
            <a:r>
              <a:t>Job Title, Description, Profile, Benefits, Requirements</a:t>
            </a:r>
          </a:p>
          <a:p>
            <a:pPr>
              <a:spcAft>
                <a:spcPts val="200"/>
              </a:spcAft>
              <a:defRPr sz="1100" b="1" i="0">
                <a:solidFill>
                  <a:srgbClr val="787878"/>
                </a:solidFill>
                <a:latin typeface="Segoe UI"/>
              </a:defRPr>
            </a:pPr>
            <a:r>
              <a:t>Metadata:</a:t>
            </a:r>
          </a:p>
          <a:p>
            <a:pPr>
              <a:spcAft>
                <a:spcPts val="800"/>
              </a:spcAft>
              <a:defRPr sz="1400" b="1" i="0">
                <a:solidFill>
                  <a:srgbClr val="182B49"/>
                </a:solidFill>
                <a:latin typeface="Segoe UI"/>
              </a:defRPr>
            </a:pPr>
            <a:r>
              <a:t>Telecommuting, Logo, Questions, Experience,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6459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 i="0">
                <a:solidFill>
                  <a:srgbClr val="182B49"/>
                </a:solidFill>
                <a:latin typeface="Segoe UI"/>
              </a:defRPr>
            </a:pPr>
            <a:r>
              <a:t>THE CLASS IMBALANCE TRAP</a:t>
            </a:r>
          </a:p>
          <a:p>
            <a:pPr>
              <a:spcAft>
                <a:spcPts val="1400"/>
              </a:spcAft>
              <a:defRPr sz="1400" b="0" i="0">
                <a:solidFill>
                  <a:srgbClr val="282828"/>
                </a:solidFill>
                <a:latin typeface="Segoe UI"/>
              </a:defRPr>
            </a:pPr>
            <a:r>
              <a:t>Legitimate jobs represent 95.16% (17,014 records), while Fraudulent postings are only 4.84% (866 records).</a:t>
            </a:r>
          </a:p>
          <a:p>
            <a:pPr>
              <a:spcAft>
                <a:spcPts val="1200"/>
              </a:spcAft>
              <a:defRPr sz="2600" b="1" i="0">
                <a:solidFill>
                  <a:srgbClr val="0096A7"/>
                </a:solidFill>
                <a:latin typeface="Segoe UI"/>
              </a:defRPr>
            </a:pPr>
            <a:r>
              <a:t>95.16% vs 4.84%</a:t>
            </a:r>
          </a:p>
          <a:p>
            <a:pPr>
              <a:spcAft>
                <a:spcPts val="400"/>
              </a:spcAft>
              <a:defRPr sz="1300" b="1" i="0">
                <a:solidFill>
                  <a:srgbClr val="182B49"/>
                </a:solidFill>
                <a:latin typeface="Segoe UI"/>
              </a:defRPr>
            </a:pPr>
            <a:r>
              <a:t>Consequences for Evaluation: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282828"/>
                </a:solidFill>
                <a:latin typeface="Segoe UI"/>
              </a:defRPr>
            </a:pPr>
            <a:r>
              <a:t>Traditional accuracy is misleading. If a model predicts 'Legitimate' for all posts, it achieves 95.16% accuracy but catches 0 scams. F1-Score, Precision, and Recall must be used instead.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2B49"/>
                </a:solidFill>
                <a:latin typeface="Segoe UI"/>
              </a:defRPr>
            </a:pPr>
            <a:r>
              <a:t>Natural Language Processing (NLP)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4864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2468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1200"/>
              </a:spcAft>
              <a:defRPr sz="1500" b="1" i="0">
                <a:solidFill>
                  <a:srgbClr val="182B49"/>
                </a:solidFill>
                <a:latin typeface="Segoe UI"/>
              </a:defRPr>
            </a:pPr>
            <a:r>
              <a:t>1. Aggregation</a:t>
            </a:r>
          </a:p>
          <a:p>
            <a:pPr>
              <a:spcAft>
                <a:spcPts val="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Concatenated text fields (Title, Description, Profile, Benefits, Requirements) into a single text block for each listing.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828800"/>
            <a:ext cx="2468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1200"/>
              </a:spcAft>
              <a:defRPr sz="1500" b="1" i="0">
                <a:solidFill>
                  <a:srgbClr val="182B49"/>
                </a:solidFill>
                <a:latin typeface="Segoe UI"/>
              </a:defRPr>
            </a:pPr>
            <a:r>
              <a:t>2. Cleaning &amp; Lowering</a:t>
            </a:r>
          </a:p>
          <a:p>
            <a:pPr>
              <a:spcAft>
                <a:spcPts val="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Converted text to lowercase and removed special characters, punctuation, and numerical digits using Regex patterns.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28800"/>
            <a:ext cx="2468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1200"/>
              </a:spcAft>
              <a:defRPr sz="1500" b="1" i="0">
                <a:solidFill>
                  <a:srgbClr val="182B49"/>
                </a:solidFill>
                <a:latin typeface="Segoe UI"/>
              </a:defRPr>
            </a:pPr>
            <a:r>
              <a:t>3. Tokenization &amp; Stopwords</a:t>
            </a:r>
          </a:p>
          <a:p>
            <a:pPr>
              <a:spcAft>
                <a:spcPts val="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Split paragraphs into word tokens and filtered out common English stopwords (e.g., 'the', 'is', 'and') that lack classification weight.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15400" y="1828800"/>
            <a:ext cx="2468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1200"/>
              </a:spcAft>
              <a:defRPr sz="1500" b="1" i="0">
                <a:solidFill>
                  <a:srgbClr val="182B49"/>
                </a:solidFill>
                <a:latin typeface="Segoe UI"/>
              </a:defRPr>
            </a:pPr>
            <a:r>
              <a:t>4. Lemmatization</a:t>
            </a:r>
          </a:p>
          <a:p>
            <a:pPr>
              <a:spcAft>
                <a:spcPts val="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Reduced word tokens to their root dictionary form (e.g., 'requirements' -&gt; 'requirement', 'benefits' -&gt; 'benefit') using NLTK WordNet.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2B49"/>
                </a:solidFill>
                <a:latin typeface="Segoe UI"/>
              </a:defRPr>
            </a:pPr>
            <a:r>
              <a:t>Feature Engineering &amp; Fusion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4864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 i="0">
                <a:solidFill>
                  <a:srgbClr val="0096A7"/>
                </a:solidFill>
                <a:latin typeface="Segoe UI"/>
              </a:defRPr>
            </a:pPr>
            <a:r>
              <a:t>TEXT REPRESENTATION (TF-IDF)</a:t>
            </a:r>
          </a:p>
          <a:p>
            <a:pPr>
              <a:spcAft>
                <a:spcPts val="200"/>
              </a:spcAft>
              <a:defRPr sz="1400" b="1" i="0">
                <a:solidFill>
                  <a:srgbClr val="182B49"/>
                </a:solidFill>
                <a:latin typeface="Segoe UI"/>
              </a:defRPr>
            </a:pPr>
            <a:r>
              <a:t>•  TF-IDF Vectorization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Translates raw words into numeric vectors based on frequency and cross-document rarity.</a:t>
            </a:r>
          </a:p>
          <a:p>
            <a:pPr>
              <a:spcAft>
                <a:spcPts val="200"/>
              </a:spcAft>
              <a:defRPr sz="1400" b="1" i="0">
                <a:solidFill>
                  <a:srgbClr val="182B49"/>
                </a:solidFill>
                <a:latin typeface="Segoe UI"/>
              </a:defRPr>
            </a:pPr>
            <a:r>
              <a:t>•  N-gram Range (1, 2)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Captures single words and two-word sequences (e.g., 'high salary', 'work from home') for contextual indicators.</a:t>
            </a:r>
          </a:p>
          <a:p>
            <a:pPr>
              <a:spcAft>
                <a:spcPts val="200"/>
              </a:spcAft>
              <a:defRPr sz="1400" b="1" i="0">
                <a:solidFill>
                  <a:srgbClr val="182B49"/>
                </a:solidFill>
                <a:latin typeface="Segoe UI"/>
              </a:defRPr>
            </a:pPr>
            <a:r>
              <a:t>•  Feature Limitation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Retained the top 5,000 text features to prevent overfitting and optimize dimensionality.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 i="0">
                <a:solidFill>
                  <a:srgbClr val="182B49"/>
                </a:solidFill>
                <a:latin typeface="Segoe UI"/>
              </a:defRPr>
            </a:pPr>
            <a:r>
              <a:t>METADATA &amp; FEATURE FUSION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✔  One-Hot Encoding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Imputed null categories as 'Unspecified' and one-hot encoded metadata (e.g. required education and experience).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✔  Sparse Matrix Stacking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Fused text TF-IDF vectors and encoded metadata arrays horizontally using scipy.sparse.hstack.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✔  Why Fusion Works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Text gives semantic context, while metadata flags structural patterns (e.g., missing company logos).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2B49"/>
                </a:solidFill>
                <a:latin typeface="Segoe UI"/>
              </a:defRPr>
            </a:pPr>
            <a:r>
              <a:t>Models &amp; Classification Paradigms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4864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329184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0" rIns="228600" rtlCol="0" anchor="ctr"/>
          <a:lstStyle/>
          <a:p>
            <a:pPr algn="ctr">
              <a:spcAft>
                <a:spcPts val="400"/>
              </a:spcAft>
              <a:defRPr sz="2000" b="1" i="0">
                <a:solidFill>
                  <a:srgbClr val="787878"/>
                </a:solidFill>
                <a:latin typeface="Segoe UI"/>
              </a:defRPr>
            </a:pPr>
            <a:r>
              <a:t>Logistic Regression</a:t>
            </a:r>
          </a:p>
          <a:p>
            <a:pPr>
              <a:spcAft>
                <a:spcPts val="1400"/>
              </a:spcAft>
              <a:defRPr sz="1100" b="1" i="0">
                <a:solidFill>
                  <a:srgbClr val="787878"/>
                </a:solidFill>
                <a:latin typeface="Segoe UI"/>
              </a:defRPr>
            </a:pPr>
            <a:r>
              <a:t>BASELINE (TEXT ONLY)</a:t>
            </a:r>
          </a:p>
          <a:p>
            <a:pPr>
              <a:spcAft>
                <a:spcPts val="0"/>
              </a:spcAft>
              <a:defRPr sz="1300" b="0" i="0">
                <a:solidFill>
                  <a:srgbClr val="282828"/>
                </a:solidFill>
                <a:latin typeface="Segoe UI"/>
              </a:defRPr>
            </a:pPr>
            <a:r>
              <a:t>Fast, highly interpretable linear classifier. Set a baseline using TF-IDF text features only. Balanced class weights applied.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828800"/>
            <a:ext cx="329184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0" rIns="228600" rtlCol="0" anchor="ctr"/>
          <a:lstStyle/>
          <a:p>
            <a:pPr algn="ctr">
              <a:spcAft>
                <a:spcPts val="400"/>
              </a:spcAft>
              <a:defRPr sz="2000" b="1" i="0">
                <a:solidFill>
                  <a:srgbClr val="0096A7"/>
                </a:solidFill>
                <a:latin typeface="Segoe UI"/>
              </a:defRPr>
            </a:pPr>
            <a:r>
              <a:t>Random Forest</a:t>
            </a:r>
          </a:p>
          <a:p>
            <a:pPr>
              <a:spcAft>
                <a:spcPts val="1400"/>
              </a:spcAft>
              <a:defRPr sz="1100" b="1" i="0">
                <a:solidFill>
                  <a:srgbClr val="787878"/>
                </a:solidFill>
                <a:latin typeface="Segoe UI"/>
              </a:defRPr>
            </a:pPr>
            <a:r>
              <a:t>BAGGING ENSEMBLE</a:t>
            </a:r>
          </a:p>
          <a:p>
            <a:pPr>
              <a:spcAft>
                <a:spcPts val="0"/>
              </a:spcAft>
              <a:defRPr sz="1300" b="0" i="0">
                <a:solidFill>
                  <a:srgbClr val="282828"/>
                </a:solidFill>
                <a:latin typeface="Segoe UI"/>
              </a:defRPr>
            </a:pPr>
            <a:r>
              <a:t>Generates an ensemble of decision trees. Captures non-linear feature interactions from fused text &amp; metadata. Balanced class weights applied.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1828800"/>
            <a:ext cx="329184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0" rIns="228600" rtlCol="0" anchor="ctr"/>
          <a:lstStyle/>
          <a:p>
            <a:pPr algn="ctr">
              <a:spcAft>
                <a:spcPts val="400"/>
              </a:spcAft>
              <a:defRPr sz="2000" b="1" i="0">
                <a:solidFill>
                  <a:srgbClr val="182B49"/>
                </a:solidFill>
                <a:latin typeface="Segoe UI"/>
              </a:defRPr>
            </a:pPr>
            <a:r>
              <a:t>XGBoost Classifier</a:t>
            </a:r>
          </a:p>
          <a:p>
            <a:pPr>
              <a:spcAft>
                <a:spcPts val="1400"/>
              </a:spcAft>
              <a:defRPr sz="1100" b="1" i="0">
                <a:solidFill>
                  <a:srgbClr val="787878"/>
                </a:solidFill>
                <a:latin typeface="Segoe UI"/>
              </a:defRPr>
            </a:pPr>
            <a:r>
              <a:t>GRADIENT BOOSTING</a:t>
            </a:r>
          </a:p>
          <a:p>
            <a:pPr>
              <a:spcAft>
                <a:spcPts val="0"/>
              </a:spcAft>
              <a:defRPr sz="1300" b="0" i="0">
                <a:solidFill>
                  <a:srgbClr val="282828"/>
                </a:solidFill>
                <a:latin typeface="Segoe UI"/>
              </a:defRPr>
            </a:pPr>
            <a:r>
              <a:t>Iterative boosting framework. Leverages scale_pos_weight to assign heavy penalties to minority class (fraudulent) errors.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2B49"/>
                </a:solidFill>
                <a:latin typeface="Segoe UI"/>
              </a:defRPr>
            </a:pPr>
            <a:r>
              <a:t>Evaluation Strategy for Imbalanced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4864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 i="0">
                <a:solidFill>
                  <a:srgbClr val="182B49"/>
                </a:solidFill>
                <a:latin typeface="Segoe UI"/>
              </a:defRPr>
            </a:pPr>
            <a:r>
              <a:t>OUR PRIMARY METRICS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✔  Precision</a:t>
            </a:r>
          </a:p>
          <a:p>
            <a:pPr>
              <a:spcAft>
                <a:spcPts val="8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How many flagged jobs are actually fake? (Keeps false alarms low)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✔  Recall</a:t>
            </a:r>
          </a:p>
          <a:p>
            <a:pPr>
              <a:spcAft>
                <a:spcPts val="8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How many of the actual fake jobs did we catch? (Keeps job seekers safe)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✔  F1-Score</a:t>
            </a:r>
          </a:p>
          <a:p>
            <a:pPr>
              <a:spcAft>
                <a:spcPts val="8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Harmonic mean of Precision and Recall. The main metric used to compare models.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✔  ROC-AUC</a:t>
            </a:r>
          </a:p>
          <a:p>
            <a:pPr>
              <a:spcAft>
                <a:spcPts val="8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Overall capability to distinguish classes across all probability thresholds.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1300" b="1" i="0">
                <a:solidFill>
                  <a:srgbClr val="03A9F4"/>
                </a:solidFill>
                <a:latin typeface="Segoe UI"/>
              </a:defRPr>
            </a:pPr>
            <a:r>
              <a:t>CLASS WEIGHTING EXPLAINED</a:t>
            </a:r>
          </a:p>
          <a:p>
            <a:pPr>
              <a:spcAft>
                <a:spcPts val="1400"/>
              </a:spcAft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To prevent models from prioritizing the majority class, we integrated class penalties during training:</a:t>
            </a:r>
          </a:p>
          <a:p>
            <a:pPr>
              <a:spcAft>
                <a:spcPts val="2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•  Logistic Regression &amp; Random Forest: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FFFFFF"/>
                </a:solidFill>
                <a:latin typeface="Segoe UI"/>
              </a:defRPr>
            </a:pPr>
            <a:r>
              <a:t>Used class_weight='balanced' to adjust weights inversely proportional to class frequencies.</a:t>
            </a:r>
          </a:p>
          <a:p>
            <a:pPr>
              <a:spcAft>
                <a:spcPts val="2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•  XGBoost Classifier: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FFFFFF"/>
                </a:solidFill>
                <a:latin typeface="Segoe UI"/>
              </a:defRPr>
            </a:pPr>
            <a:r>
              <a:t>Calculated scale_pos_weight (~19.64) to multiply the loss of the positive (fake) class errors.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2B49"/>
                </a:solidFill>
                <a:latin typeface="Segoe UI"/>
              </a:defRPr>
            </a:pPr>
            <a:r>
              <a:t>Model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4864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2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82828"/>
                          </a:solidFill>
                          <a:latin typeface="Segoe UI"/>
                        </a:defRPr>
                      </a:pPr>
                      <a:r>
                        <a:t>Logistic Regression (Text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Segoe UI"/>
                        </a:defRPr>
                      </a:pPr>
                      <a:r>
                        <a:t>96.31%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Segoe UI"/>
                        </a:defRPr>
                      </a:pPr>
                      <a:r>
                        <a:t>57.92%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Segoe UI"/>
                        </a:defRPr>
                      </a:pPr>
                      <a:r>
                        <a:t>86.71%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Segoe UI"/>
                        </a:defRPr>
                      </a:pPr>
                      <a:r>
                        <a:t>69.44%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Segoe UI"/>
                        </a:defRPr>
                      </a:pPr>
                      <a:r>
                        <a:t>98.15%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82828"/>
                          </a:solidFill>
                          <a:latin typeface="Segoe UI"/>
                        </a:defRPr>
                      </a:pPr>
                      <a:r>
                        <a:t>Random Forest (Text + Meta)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Segoe UI"/>
                        </a:defRPr>
                      </a:pPr>
                      <a:r>
                        <a:t>98.21%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Segoe UI"/>
                        </a:defRPr>
                      </a:pPr>
                      <a:r>
                        <a:t>92.25%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Segoe UI"/>
                        </a:defRPr>
                      </a:pPr>
                      <a:r>
                        <a:t>68.79%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Segoe UI"/>
                        </a:defRPr>
                      </a:pPr>
                      <a:r>
                        <a:t>78.81%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Segoe UI"/>
                        </a:defRPr>
                      </a:pPr>
                      <a:r>
                        <a:t>99.28%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82828"/>
                          </a:solidFill>
                          <a:latin typeface="Segoe UI"/>
                        </a:defRPr>
                      </a:pPr>
                      <a:r>
                        <a:t>XGBoost Classifier (Text + Meta)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96A7"/>
                          </a:solidFill>
                          <a:latin typeface="Segoe UI"/>
                        </a:defRPr>
                      </a:pPr>
                      <a:r>
                        <a:t>98.63%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96A7"/>
                          </a:solidFill>
                          <a:latin typeface="Segoe UI"/>
                        </a:defRPr>
                      </a:pPr>
                      <a:r>
                        <a:t>89.24%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96A7"/>
                          </a:solidFill>
                          <a:latin typeface="Segoe UI"/>
                        </a:defRPr>
                      </a:pPr>
                      <a:r>
                        <a:t>81.50%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96A7"/>
                          </a:solidFill>
                          <a:latin typeface="Segoe UI"/>
                        </a:defRPr>
                      </a:pPr>
                      <a:r>
                        <a:t>85.20%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96A7"/>
                          </a:solidFill>
                          <a:latin typeface="Segoe UI"/>
                        </a:defRPr>
                      </a:pPr>
                      <a:r>
                        <a:t>98.92%</a:t>
                      </a:r>
                    </a:p>
                  </a:txBody>
                  <a:tcPr>
                    <a:solidFill>
                      <a:srgbClr val="F0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114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 i="0">
                <a:solidFill>
                  <a:srgbClr val="182B49"/>
                </a:solidFill>
                <a:latin typeface="Segoe UI"/>
              </a:defRPr>
            </a:pPr>
            <a:r>
              <a:t>KEY PERFORMANCE FINDINGS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82828"/>
                </a:solidFill>
                <a:latin typeface="Segoe UI"/>
              </a:defRPr>
            </a:pPr>
            <a:r>
              <a:t>•  XGBoost Classifier wins: Achieves the highest F1-Score of 85.20% and robust Recall of 81.50% by combining text context and metadata.</a:t>
            </a:r>
          </a:p>
          <a:p>
            <a:pPr>
              <a:spcAft>
                <a:spcPts val="1200"/>
              </a:spcAft>
              <a:defRPr sz="1300" b="0" i="0">
                <a:solidFill>
                  <a:srgbClr val="282828"/>
                </a:solidFill>
                <a:latin typeface="Segoe UI"/>
              </a:defRPr>
            </a:pPr>
            <a:r>
              <a:t>•  Precision vs Recall Tradeoff: Random Forest achieves the highest Precision (92.25%) but misses more scams (Recall 68.79%). XGBoost balances this tradeoff optimally.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2B49"/>
                </a:solidFill>
                <a:latin typeface="Segoe UI"/>
              </a:defRPr>
            </a:pPr>
            <a:r>
              <a:t>Feature Importance &amp; Model Interpretability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4864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 i="0">
                <a:solidFill>
                  <a:srgbClr val="182B49"/>
                </a:solidFill>
                <a:latin typeface="Segoe UI"/>
              </a:defRPr>
            </a:pPr>
            <a:r>
              <a:t>EXPLAINABLE FRAUD DETECTORS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•  has_company_logo (Highly Predictive)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Postings without a company logo are statistically much more likely to be fake. Bots or low-effort scam creators often skip uploading logos.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•  has_questions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Fake job postings typically do not include custom screening questions (has_questions = 0) to minimize entry barriers for victims.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•  Text Keywords (TF-IDF)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Certain phrasing such as 'earn money', 'urgently hiring', and 'work from home' paired with unspecified requirements are high-probability scam indicators.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200"/>
              </a:spcAft>
              <a:defRPr sz="1400" b="1" i="0">
                <a:solidFill>
                  <a:srgbClr val="03A9F4"/>
                </a:solidFill>
                <a:latin typeface="Segoe UI"/>
              </a:defRPr>
            </a:pPr>
            <a:r>
              <a:t>TOP PREDICTIVE FEATURES</a:t>
            </a:r>
          </a:p>
          <a:p>
            <a:pPr>
              <a:spcAft>
                <a:spcPts val="8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1. has_company_logo (Binary)</a:t>
            </a:r>
          </a:p>
          <a:p>
            <a:pPr>
              <a:spcAft>
                <a:spcPts val="8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2. has_questions (Binary)</a:t>
            </a:r>
          </a:p>
          <a:p>
            <a:pPr>
              <a:spcAft>
                <a:spcPts val="8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3. tfidf_vector_earn_money (Text)</a:t>
            </a:r>
          </a:p>
          <a:p>
            <a:pPr>
              <a:spcAft>
                <a:spcPts val="8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4. tfidf_vector_work_home (Text)</a:t>
            </a:r>
          </a:p>
          <a:p>
            <a:pPr>
              <a:spcAft>
                <a:spcPts val="8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5. required_education_Unspecified (Category)</a:t>
            </a:r>
          </a:p>
          <a:p>
            <a:pPr>
              <a:spcAft>
                <a:spcPts val="8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6. required_experience_Unspecified (Category)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2B49"/>
                </a:solidFill>
                <a:latin typeface="Segoe UI"/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4864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 i="0">
                <a:solidFill>
                  <a:srgbClr val="182B49"/>
                </a:solidFill>
                <a:latin typeface="Segoe UI"/>
              </a:defRPr>
            </a:pPr>
            <a:r>
              <a:t>PROJECT SUMMARY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✔  High Detection Capability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Fusing NLP (TF-IDF) text features with tabular metadata enables the XGBoost classifier to identify over 81.5% of scams.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✔  Importance of Metadata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Metadata (logos, questions) acts as a powerful indicator of structural legitimacy, enhancing text-only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 i="0">
                <a:solidFill>
                  <a:srgbClr val="182B49"/>
                </a:solidFill>
                <a:latin typeface="Segoe UI"/>
              </a:defRPr>
            </a:pPr>
            <a:r>
              <a:t>LIMITATIONS &amp; FUTURE WORK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•  Concept Drift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Scammers continuously adapt vocabularies, meaning models must be updated periodically with fresh training data.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•  Transformer Models (BERT)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Moving from TF-IDF word frequencies to pre-trained transformer embeddings (BERT/RoBERTa) to capture deep semantic patterns.</a:t>
            </a:r>
          </a:p>
          <a:p>
            <a:pPr>
              <a:spcAft>
                <a:spcPts val="200"/>
              </a:spcAft>
              <a:defRPr sz="1400" b="1" i="0">
                <a:solidFill>
                  <a:srgbClr val="0096A7"/>
                </a:solidFill>
                <a:latin typeface="Segoe UI"/>
              </a:defRPr>
            </a:pPr>
            <a:r>
              <a:t>•  Browser Extension Integration</a:t>
            </a:r>
          </a:p>
          <a:p>
            <a:pPr>
              <a:spcAft>
                <a:spcPts val="1000"/>
              </a:spcAft>
              <a:defRPr sz="1200" b="0" i="0">
                <a:solidFill>
                  <a:srgbClr val="282828"/>
                </a:solidFill>
                <a:latin typeface="Segoe UI"/>
              </a:defRPr>
            </a:pPr>
            <a:r>
              <a:t>Deploying the trained model as a lightweight browser extension to flag fraudulent listings in real-time for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C165D-A023-26B5-CBAA-0C0EB36B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916" y="2588018"/>
            <a:ext cx="6060948" cy="1554214"/>
          </a:xfrm>
        </p:spPr>
        <p:txBody>
          <a:bodyPr>
            <a:noAutofit/>
          </a:bodyPr>
          <a:lstStyle/>
          <a:p>
            <a:r>
              <a:rPr lang="en-US" sz="8800" dirty="0">
                <a:ln w="0"/>
                <a:solidFill>
                  <a:schemeClr val="tx2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28254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1171</Words>
  <Application>Microsoft Office PowerPoint</Application>
  <PresentationFormat>Widescreen</PresentationFormat>
  <Paragraphs>149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Zeel Parmar</cp:lastModifiedBy>
  <cp:revision>2</cp:revision>
  <dcterms:created xsi:type="dcterms:W3CDTF">2013-01-27T09:14:16Z</dcterms:created>
  <dcterms:modified xsi:type="dcterms:W3CDTF">2026-06-24T18:41:39Z</dcterms:modified>
  <cp:category/>
</cp:coreProperties>
</file>